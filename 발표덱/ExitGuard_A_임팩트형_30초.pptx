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206240" cy="4206240"/>
          </a:xfrm>
          <a:prstGeom prst="ellipse">
            <a:avLst/>
          </a:prstGeom>
          <a:solidFill>
            <a:srgbClr val="3C4E72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FB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EXITGUARD · 지란지교 해커톤 2026 · 30초 피치 (A · 임팩트형)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피해 · 2026년 6월 · 쿠팡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6,246</a:t>
            </a:r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억 원</a:t>
            </a:r>
            <a:endParaRPr lang="en-US" sz="12200" dirty="0"/>
          </a:p>
        </p:txBody>
      </p:sp>
      <p:sp>
        <p:nvSpPr>
          <p:cNvPr id="6" name="Text 4"/>
          <p:cNvSpPr/>
          <p:nvPr/>
        </p:nvSpPr>
        <p:spPr>
          <a:xfrm>
            <a:off x="685800" y="3611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쿠팡이 퇴직자 계정 하나로 잃은 돈입니다.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42976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직원이 나갈 때, 회사는 칼 두 개를 맞습니다.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85800" y="54406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체계가 있는데도 뚫렸습니다. 문제는 '통제점'이 없다는 것.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96696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9FB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ExitGuard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C4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나가는 직원은 칼 두 개를 겨눕니다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5143500" cy="3063240"/>
          </a:xfrm>
          <a:prstGeom prst="roundRect">
            <a:avLst>
              <a:gd name="adj" fmla="val 3582"/>
            </a:avLst>
          </a:prstGeom>
          <a:solidFill>
            <a:srgbClr val="F2EEFC"/>
          </a:solidFill>
          <a:ln/>
          <a:effectLst>
            <a:outerShdw sx="100000" sy="100000" kx="0" ky="0" algn="bl" rotWithShape="0" blurRad="127000" dist="38100" dir="5400000">
              <a:srgbClr val="0F2B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468880"/>
            <a:ext cx="658368" cy="65836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65960" y="2468880"/>
            <a:ext cx="34975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유출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143000" y="3429000"/>
            <a:ext cx="42291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F2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직원이 기술과 영업비밀을 빼간다.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4297680"/>
            <a:ext cx="42291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B70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퇴사 후 회사 계정 50% 잔존 (OneLogin)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B70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퇴직자 비밀보호서약 44.8%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32220" y="2057400"/>
            <a:ext cx="5143500" cy="3063240"/>
          </a:xfrm>
          <a:prstGeom prst="roundRect">
            <a:avLst>
              <a:gd name="adj" fmla="val 3582"/>
            </a:avLst>
          </a:prstGeom>
          <a:solidFill>
            <a:srgbClr val="E6F7F9"/>
          </a:solidFill>
          <a:ln/>
          <a:effectLst>
            <a:outerShdw sx="100000" sy="100000" kx="0" ky="0" algn="bl" rotWithShape="0" blurRad="127000" dist="38100" dir="5400000">
              <a:srgbClr val="0F2B3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43700" y="2468880"/>
            <a:ext cx="658368" cy="658368"/>
          </a:xfrm>
          <a:prstGeom prst="ellipse">
            <a:avLst/>
          </a:prstGeom>
          <a:solidFill>
            <a:srgbClr val="0FB2C4"/>
          </a:solidFill>
          <a:ln/>
        </p:spPr>
      </p:sp>
      <p:sp>
        <p:nvSpPr>
          <p:cNvPr id="12" name="Text 10"/>
          <p:cNvSpPr/>
          <p:nvPr/>
        </p:nvSpPr>
        <p:spPr>
          <a:xfrm>
            <a:off x="6743700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12380" y="2468880"/>
            <a:ext cx="34975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B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소송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789420" y="3429000"/>
            <a:ext cx="42291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F2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회사가 놓친 노동법을 근거로 되받아친다.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89420" y="4297680"/>
            <a:ext cx="42291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B70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부당해고 · 임금 · 퇴직금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B70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 없이 끊으면 오히려 회사가 당한다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5800" y="54864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C4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유출 아니면 소송 — 퇴사 한 번에 하나는 반드시 들어온다.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96696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5B70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ExitGuard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C4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IT LEAKS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규모와 상관없이 구멍이 난다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5143500" cy="3063240"/>
          </a:xfrm>
          <a:prstGeom prst="roundRect">
            <a:avLst>
              <a:gd name="adj" fmla="val 3582"/>
            </a:avLst>
          </a:prstGeom>
          <a:solidFill>
            <a:srgbClr val="ECEFF5"/>
          </a:solidFill>
          <a:ln/>
          <a:effectLst>
            <a:outerShdw sx="100000" sy="100000" kx="0" ky="0" algn="bl" rotWithShape="0" blurRad="127000" dist="38100" dir="5400000">
              <a:srgbClr val="0F2B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468880"/>
            <a:ext cx="658368" cy="658368"/>
          </a:xfrm>
          <a:prstGeom prst="ellipse">
            <a:avLst/>
          </a:prstGeom>
          <a:solidFill>
            <a:srgbClr val="3C4E72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65960" y="2468880"/>
            <a:ext cx="34975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C4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대기업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143000" y="3429000"/>
            <a:ext cx="42291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F2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퇴사 처리를 3개 팀이 나눠 맡는다.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4297680"/>
            <a:ext cx="42291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B70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보안팀 · 인사팀 · 법무팀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B70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조율 안 되는 접점에서 뚫린다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32220" y="2057400"/>
            <a:ext cx="5143500" cy="3063240"/>
          </a:xfrm>
          <a:prstGeom prst="roundRect">
            <a:avLst>
              <a:gd name="adj" fmla="val 3582"/>
            </a:avLst>
          </a:prstGeom>
          <a:solidFill>
            <a:srgbClr val="F1F7F8"/>
          </a:solidFill>
          <a:ln/>
          <a:effectLst>
            <a:outerShdw sx="100000" sy="100000" kx="0" ky="0" algn="bl" rotWithShape="0" blurRad="127000" dist="38100" dir="5400000">
              <a:srgbClr val="0F2B3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43700" y="2468880"/>
            <a:ext cx="658368" cy="658368"/>
          </a:xfrm>
          <a:prstGeom prst="ellipse">
            <a:avLst/>
          </a:prstGeom>
          <a:solidFill>
            <a:srgbClr val="3C4E72"/>
          </a:solidFill>
          <a:ln/>
        </p:spPr>
      </p:sp>
      <p:sp>
        <p:nvSpPr>
          <p:cNvPr id="12" name="Text 10"/>
          <p:cNvSpPr/>
          <p:nvPr/>
        </p:nvSpPr>
        <p:spPr>
          <a:xfrm>
            <a:off x="6743700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12380" y="2468880"/>
            <a:ext cx="34975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C4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소기업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789420" y="3429000"/>
            <a:ext cx="42291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F2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한 명이 전부 떠안는다.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89420" y="4297680"/>
            <a:ext cx="42291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B70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· 정산 · 서약 · 통지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B70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손이 부족해 놓친다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5800" y="54864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C4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회사는 흩어져서, 작은 회사는 혼자라서.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96696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5B70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ExitGuard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B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NOW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게다가 노동법은 매년 세진다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3322320" cy="2606040"/>
          </a:xfrm>
          <a:prstGeom prst="roundRect">
            <a:avLst>
              <a:gd name="adj" fmla="val 4211"/>
            </a:avLst>
          </a:prstGeom>
          <a:solidFill>
            <a:srgbClr val="14343B"/>
          </a:solidFill>
          <a:ln/>
        </p:spPr>
      </p:sp>
      <p:sp>
        <p:nvSpPr>
          <p:cNvPr id="5" name="Shape 3"/>
          <p:cNvSpPr/>
          <p:nvPr/>
        </p:nvSpPr>
        <p:spPr>
          <a:xfrm>
            <a:off x="2264664" y="2697480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944368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3→5배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868680" y="3858768"/>
            <a:ext cx="295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FB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영업비밀 침해 징벌배상</a:t>
            </a:r>
            <a:endParaRPr lang="en-US" sz="13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FB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(2024.8 시행)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19600" y="2286000"/>
            <a:ext cx="3322320" cy="2606040"/>
          </a:xfrm>
          <a:prstGeom prst="roundRect">
            <a:avLst>
              <a:gd name="adj" fmla="val 4211"/>
            </a:avLst>
          </a:prstGeom>
          <a:solidFill>
            <a:srgbClr val="14343B"/>
          </a:solidFill>
          <a:ln/>
        </p:spPr>
      </p:sp>
      <p:sp>
        <p:nvSpPr>
          <p:cNvPr id="9" name="Shape 7"/>
          <p:cNvSpPr/>
          <p:nvPr/>
        </p:nvSpPr>
        <p:spPr>
          <a:xfrm>
            <a:off x="5998464" y="2697480"/>
            <a:ext cx="164592" cy="164592"/>
          </a:xfrm>
          <a:prstGeom prst="ellipse">
            <a:avLst/>
          </a:prstGeom>
          <a:solidFill>
            <a:srgbClr val="0FB2C4"/>
          </a:solidFill>
          <a:ln/>
        </p:spPr>
      </p:sp>
      <p:sp>
        <p:nvSpPr>
          <p:cNvPr id="10" name="Text 8"/>
          <p:cNvSpPr/>
          <p:nvPr/>
        </p:nvSpPr>
        <p:spPr>
          <a:xfrm>
            <a:off x="4556760" y="2944368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FB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2026.3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4602480" y="3858768"/>
            <a:ext cx="295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FB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노란봉투법 시행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53400" y="2286000"/>
            <a:ext cx="3322320" cy="2606040"/>
          </a:xfrm>
          <a:prstGeom prst="roundRect">
            <a:avLst>
              <a:gd name="adj" fmla="val 4211"/>
            </a:avLst>
          </a:prstGeom>
          <a:solidFill>
            <a:srgbClr val="14343B"/>
          </a:solidFill>
          <a:ln/>
        </p:spPr>
      </p:sp>
      <p:sp>
        <p:nvSpPr>
          <p:cNvPr id="13" name="Shape 11"/>
          <p:cNvSpPr/>
          <p:nvPr/>
        </p:nvSpPr>
        <p:spPr>
          <a:xfrm>
            <a:off x="9732264" y="269748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8290560" y="2944368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+20.3%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8336280" y="3858768"/>
            <a:ext cx="295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FB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부당해고 구제신청</a:t>
            </a:r>
            <a:endParaRPr lang="en-US" sz="13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FB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15,816건 (전년 대비)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5800" y="52578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B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터지기 전에 막지 않으면, 비용은 매년 커진다.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96696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9FB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ExitGuard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188720"/>
            <a:ext cx="4023360" cy="4023360"/>
          </a:xfrm>
          <a:prstGeom prst="ellipse">
            <a:avLst/>
          </a:prstGeom>
          <a:solidFill>
            <a:srgbClr val="0FB2C4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0515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B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칼끝을 동시에 막는 건</a:t>
            </a:r>
            <a:endParaRPr lang="en-US" sz="3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ExitGuard뿐입니다.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685800" y="361188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9FB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3-Rail Exit Gate — 노무·영업비밀·보안을 하나의 통제판에서.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85800" y="4572000"/>
            <a:ext cx="10789920" cy="1051560"/>
          </a:xfrm>
          <a:prstGeom prst="roundRect">
            <a:avLst>
              <a:gd name="adj" fmla="val 10435"/>
            </a:avLst>
          </a:prstGeom>
          <a:solidFill>
            <a:srgbClr val="0FB2C4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45720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14,000곳이 쓰는 오피스키퍼 위에, 오늘 얹으세요.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96696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9FB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ExitGuard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ExitGuard — 30초 피치 (임팩트형)</dc:title>
  <dc:subject>PptxGenJS Presentation</dc:subject>
  <dc:creator>미스터 Hook</dc:creator>
  <cp:lastModifiedBy>미스터 Hook</cp:lastModifiedBy>
  <cp:revision>1</cp:revision>
  <dcterms:created xsi:type="dcterms:W3CDTF">2026-07-10T01:57:42Z</dcterms:created>
  <dcterms:modified xsi:type="dcterms:W3CDTF">2026-07-10T01:57:42Z</dcterms:modified>
</cp:coreProperties>
</file>