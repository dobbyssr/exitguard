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206240" cy="4206240"/>
          </a:xfrm>
          <a:prstGeom prst="ellipse">
            <a:avLst/>
          </a:prstGeom>
          <a:solidFill>
            <a:srgbClr val="3C4E72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EXITGUARD · 지란지교 해커톤 2026 · 30초 피치 (B · 논리형)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피해 · 2026년 6월 · 쿠팡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6,246</a:t>
            </a:r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 원</a:t>
            </a:r>
            <a:endParaRPr lang="en-US" sz="12200" dirty="0"/>
          </a:p>
        </p:txBody>
      </p:sp>
      <p:sp>
        <p:nvSpPr>
          <p:cNvPr id="6" name="Text 4"/>
          <p:cNvSpPr/>
          <p:nvPr/>
        </p:nvSpPr>
        <p:spPr>
          <a:xfrm>
            <a:off x="685800" y="3611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체계를 다 갖춘 쿠팡이 퇴직자 계정 하나로 잃었습니다.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42976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퇴사 한 번에, 회사는 두 개의 칼끝을 마주합니다.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· Why now · Solution · Ask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96696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ExitGuard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C4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개의 칼끝 — 유출과 소송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143500" cy="3063240"/>
          </a:xfrm>
          <a:prstGeom prst="roundRect">
            <a:avLst>
              <a:gd name="adj" fmla="val 3582"/>
            </a:avLst>
          </a:prstGeom>
          <a:solidFill>
            <a:srgbClr val="F2EEFC"/>
          </a:solidFill>
          <a:ln/>
          <a:effectLst>
            <a:outerShdw sx="100000" sy="100000" kx="0" ky="0" algn="bl" rotWithShape="0" blurRad="127000" dist="38100" dir="5400000">
              <a:srgbClr val="0F2B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468880"/>
            <a:ext cx="658368" cy="6583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2468880"/>
            <a:ext cx="34975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43000" y="3429000"/>
            <a:ext cx="4229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기술·영업비밀이 걸어 나간다.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4297680"/>
            <a:ext cx="4229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50% 잔존 (OneLogin)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서약 체결 44.8%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32220" y="2057400"/>
            <a:ext cx="5143500" cy="3063240"/>
          </a:xfrm>
          <a:prstGeom prst="roundRect">
            <a:avLst>
              <a:gd name="adj" fmla="val 3582"/>
            </a:avLst>
          </a:prstGeom>
          <a:solidFill>
            <a:srgbClr val="E6F7F9"/>
          </a:solidFill>
          <a:ln/>
          <a:effectLst>
            <a:outerShdw sx="100000" sy="100000" kx="0" ky="0" algn="bl" rotWithShape="0" blurRad="127000" dist="38100" dir="5400000">
              <a:srgbClr val="0F2B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43700" y="2468880"/>
            <a:ext cx="658368" cy="658368"/>
          </a:xfrm>
          <a:prstGeom prst="ellipse">
            <a:avLst/>
          </a:prstGeom>
          <a:solidFill>
            <a:srgbClr val="0FB2C4"/>
          </a:solidFill>
          <a:ln/>
        </p:spPr>
      </p:sp>
      <p:sp>
        <p:nvSpPr>
          <p:cNvPr id="12" name="Text 10"/>
          <p:cNvSpPr/>
          <p:nvPr/>
        </p:nvSpPr>
        <p:spPr>
          <a:xfrm>
            <a:off x="6743700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12380" y="2468880"/>
            <a:ext cx="34975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소송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789420" y="3429000"/>
            <a:ext cx="4229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놓친 노동법을 근거로 회사를 건다.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89420" y="4297680"/>
            <a:ext cx="4229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부당해고 · 임금 · 퇴직금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차단하다 되레 당한다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5486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C4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둘을 제대로 막는 회사가 거의 없다.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96696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ExitGuard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C4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IT LEAKS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못 막나 — 규모는 달라도 같은 병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143500" cy="3063240"/>
          </a:xfrm>
          <a:prstGeom prst="roundRect">
            <a:avLst>
              <a:gd name="adj" fmla="val 3582"/>
            </a:avLst>
          </a:prstGeom>
          <a:solidFill>
            <a:srgbClr val="ECEFF5"/>
          </a:solidFill>
          <a:ln/>
          <a:effectLst>
            <a:outerShdw sx="100000" sy="100000" kx="0" ky="0" algn="bl" rotWithShape="0" blurRad="127000" dist="38100" dir="5400000">
              <a:srgbClr val="0F2B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468880"/>
            <a:ext cx="658368" cy="658368"/>
          </a:xfrm>
          <a:prstGeom prst="ellipse">
            <a:avLst/>
          </a:prstGeom>
          <a:solidFill>
            <a:srgbClr val="3C4E7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2468880"/>
            <a:ext cx="34975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C4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대기업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43000" y="3429000"/>
            <a:ext cx="4229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팀이 나눠 맡아 접점에서 뚫린다.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4297680"/>
            <a:ext cx="4229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 · 법무 · 보안 분산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통제점이 없다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32220" y="2057400"/>
            <a:ext cx="5143500" cy="3063240"/>
          </a:xfrm>
          <a:prstGeom prst="roundRect">
            <a:avLst>
              <a:gd name="adj" fmla="val 3582"/>
            </a:avLst>
          </a:prstGeom>
          <a:solidFill>
            <a:srgbClr val="F1F7F8"/>
          </a:solidFill>
          <a:ln/>
          <a:effectLst>
            <a:outerShdw sx="100000" sy="100000" kx="0" ky="0" algn="bl" rotWithShape="0" blurRad="127000" dist="38100" dir="5400000">
              <a:srgbClr val="0F2B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43700" y="2468880"/>
            <a:ext cx="658368" cy="658368"/>
          </a:xfrm>
          <a:prstGeom prst="ellipse">
            <a:avLst/>
          </a:prstGeom>
          <a:solidFill>
            <a:srgbClr val="3C4E72"/>
          </a:solidFill>
          <a:ln/>
        </p:spPr>
      </p:sp>
      <p:sp>
        <p:nvSpPr>
          <p:cNvPr id="12" name="Text 10"/>
          <p:cNvSpPr/>
          <p:nvPr/>
        </p:nvSpPr>
        <p:spPr>
          <a:xfrm>
            <a:off x="6743700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12380" y="2468880"/>
            <a:ext cx="34975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C4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소기업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789420" y="3429000"/>
            <a:ext cx="4229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한 명이 혼자 떠안다 놓친다.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89420" y="4297680"/>
            <a:ext cx="4229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정산·서약·계정 회수 몰림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HR 인력 부재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5486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C4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곳은 흩어져서, 작은 곳은 혼자라서 — 같은 병이다.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96696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ExitGuard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규제·분쟁은 매년 세진다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3322320" cy="2606040"/>
          </a:xfrm>
          <a:prstGeom prst="roundRect">
            <a:avLst>
              <a:gd name="adj" fmla="val 4211"/>
            </a:avLst>
          </a:prstGeom>
          <a:solidFill>
            <a:srgbClr val="14343B"/>
          </a:solidFill>
          <a:ln/>
        </p:spPr>
      </p:sp>
      <p:sp>
        <p:nvSpPr>
          <p:cNvPr id="5" name="Shape 3"/>
          <p:cNvSpPr/>
          <p:nvPr/>
        </p:nvSpPr>
        <p:spPr>
          <a:xfrm>
            <a:off x="2264664" y="269748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44368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3→5배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868680" y="3858768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영업비밀 침해 징벌배상</a:t>
            </a:r>
            <a:endParaRPr lang="en-US" sz="13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(2024.8 시행)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19600" y="2286000"/>
            <a:ext cx="3322320" cy="2606040"/>
          </a:xfrm>
          <a:prstGeom prst="roundRect">
            <a:avLst>
              <a:gd name="adj" fmla="val 4211"/>
            </a:avLst>
          </a:prstGeom>
          <a:solidFill>
            <a:srgbClr val="14343B"/>
          </a:solidFill>
          <a:ln/>
        </p:spPr>
      </p:sp>
      <p:sp>
        <p:nvSpPr>
          <p:cNvPr id="9" name="Shape 7"/>
          <p:cNvSpPr/>
          <p:nvPr/>
        </p:nvSpPr>
        <p:spPr>
          <a:xfrm>
            <a:off x="5998464" y="2697480"/>
            <a:ext cx="164592" cy="164592"/>
          </a:xfrm>
          <a:prstGeom prst="ellipse">
            <a:avLst/>
          </a:prstGeom>
          <a:solidFill>
            <a:srgbClr val="0FB2C4"/>
          </a:solidFill>
          <a:ln/>
        </p:spPr>
      </p:sp>
      <p:sp>
        <p:nvSpPr>
          <p:cNvPr id="10" name="Text 8"/>
          <p:cNvSpPr/>
          <p:nvPr/>
        </p:nvSpPr>
        <p:spPr>
          <a:xfrm>
            <a:off x="4556760" y="2944368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2026.3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602480" y="3858768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노란봉투법 시행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53400" y="2286000"/>
            <a:ext cx="3322320" cy="2606040"/>
          </a:xfrm>
          <a:prstGeom prst="roundRect">
            <a:avLst>
              <a:gd name="adj" fmla="val 4211"/>
            </a:avLst>
          </a:prstGeom>
          <a:solidFill>
            <a:srgbClr val="14343B"/>
          </a:solidFill>
          <a:ln/>
        </p:spPr>
      </p:sp>
      <p:sp>
        <p:nvSpPr>
          <p:cNvPr id="13" name="Shape 11"/>
          <p:cNvSpPr/>
          <p:nvPr/>
        </p:nvSpPr>
        <p:spPr>
          <a:xfrm>
            <a:off x="9732264" y="2697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290560" y="2944368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+20.3%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8336280" y="3858768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부당해고 구제신청</a:t>
            </a:r>
            <a:endParaRPr lang="en-US" sz="13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15,816건 (전년 대비)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5257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규제·분쟁·사고가 한 방향으로 커지고 있다.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6696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ExitGuard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C4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ExitGuard = HR의 단일 통제판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퇴사 이벤트가 트리거되면 세 레일을 동시에 세운다.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3322320" cy="2286000"/>
          </a:xfrm>
          <a:prstGeom prst="roundRect">
            <a:avLst>
              <a:gd name="adj" fmla="val 4800"/>
            </a:avLst>
          </a:prstGeom>
          <a:solidFill>
            <a:srgbClr val="E6F7F9"/>
          </a:solidFill>
          <a:ln/>
          <a:effectLst>
            <a:outerShdw sx="100000" sy="100000" kx="0" ky="0" algn="bl" rotWithShape="0" blurRad="127000" dist="38100" dir="5400000">
              <a:srgbClr val="0F2B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670048"/>
            <a:ext cx="310896" cy="310896"/>
          </a:xfrm>
          <a:prstGeom prst="ellipse">
            <a:avLst/>
          </a:prstGeom>
          <a:solidFill>
            <a:srgbClr val="0FB2C4"/>
          </a:solidFill>
          <a:ln/>
        </p:spPr>
      </p:sp>
      <p:sp>
        <p:nvSpPr>
          <p:cNvPr id="7" name="Text 5"/>
          <p:cNvSpPr/>
          <p:nvPr/>
        </p:nvSpPr>
        <p:spPr>
          <a:xfrm>
            <a:off x="1527048" y="2615184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노무 레일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9848" y="3246120"/>
            <a:ext cx="2554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· 서면통지 (§36·§27)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69848" y="4005072"/>
            <a:ext cx="2554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indent="0" marL="0">
              <a:buNone/>
            </a:pPr>
            <a:r>
              <a:rPr lang="en-US" sz="1400" b="1" dirty="0">
                <a:solidFill>
                  <a:srgbClr val="0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소송 차단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19600" y="2286000"/>
            <a:ext cx="3322320" cy="2286000"/>
          </a:xfrm>
          <a:prstGeom prst="roundRect">
            <a:avLst>
              <a:gd name="adj" fmla="val 4800"/>
            </a:avLst>
          </a:prstGeom>
          <a:solidFill>
            <a:srgbClr val="F2EEFC"/>
          </a:solidFill>
          <a:ln/>
          <a:effectLst>
            <a:outerShdw sx="100000" sy="100000" kx="0" ky="0" algn="bl" rotWithShape="0" blurRad="127000" dist="38100" dir="5400000">
              <a:srgbClr val="0F2B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85360" y="2670048"/>
            <a:ext cx="310896" cy="3108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5260848" y="2615184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영업비밀 레일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3648" y="3246120"/>
            <a:ext cx="2554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비밀표시 · 재서약 · 접근제한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03648" y="4005072"/>
            <a:ext cx="2554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 차단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3400" y="2286000"/>
            <a:ext cx="3322320" cy="2286000"/>
          </a:xfrm>
          <a:prstGeom prst="roundRect">
            <a:avLst>
              <a:gd name="adj" fmla="val 4800"/>
            </a:avLst>
          </a:prstGeom>
          <a:solidFill>
            <a:srgbClr val="FDF3E2"/>
          </a:solidFill>
          <a:ln/>
          <a:effectLst>
            <a:outerShdw sx="100000" sy="100000" kx="0" ky="0" algn="bl" rotWithShape="0" blurRad="127000" dist="38100" dir="5400000">
              <a:srgbClr val="0F2B3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19160" y="2670048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994648" y="2615184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레일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37448" y="3246120"/>
            <a:ext cx="2554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계정·SaaS·기기 회수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오피스키퍼 로그 흡수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537448" y="4005072"/>
            <a:ext cx="2554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 차단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4983480"/>
            <a:ext cx="10789920" cy="914400"/>
          </a:xfrm>
          <a:prstGeom prst="roundRect">
            <a:avLst>
              <a:gd name="adj" fmla="val 12000"/>
            </a:avLst>
          </a:prstGeom>
          <a:solidFill>
            <a:srgbClr val="3C4E72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9834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레일 모두 충족 → '방어 가능 상태'(게이트 통과) → 증적 봉인 · PDF Export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996696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5B70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ExitGuard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188720"/>
            <a:ext cx="4023360" cy="4023360"/>
          </a:xfrm>
          <a:prstGeom prst="ellipse">
            <a:avLst/>
          </a:prstGeom>
          <a:solidFill>
            <a:srgbClr val="0FB2C4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51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B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유출과 소송, 두 칼끝을</a:t>
            </a:r>
            <a:endParaRPr lang="en-US" sz="3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HR이 버튼 하나로 동시에.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85800" y="36118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오피스키퍼 위에 얹는 레이어 — 3-Rail Exit Gate.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85800" y="4572000"/>
            <a:ext cx="10789920" cy="1051560"/>
          </a:xfrm>
          <a:prstGeom prst="roundRect">
            <a:avLst>
              <a:gd name="adj" fmla="val 10435"/>
            </a:avLst>
          </a:prstGeom>
          <a:solidFill>
            <a:srgbClr val="0FB2C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5720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오피스키퍼 1.4만 고객을 첫 검증 무대로 함께 시작하시죠.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96696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9FB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ExitGuard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ExitGuard — 30초 피치 (논리형)</dc:title>
  <dc:subject>PptxGenJS Presentation</dc:subject>
  <dc:creator>미스터 Pitch</dc:creator>
  <cp:lastModifiedBy>미스터 Pitch</cp:lastModifiedBy>
  <cp:revision>1</cp:revision>
  <dcterms:created xsi:type="dcterms:W3CDTF">2026-07-10T01:57:42Z</dcterms:created>
  <dcterms:modified xsi:type="dcterms:W3CDTF">2026-07-10T01:57:42Z</dcterms:modified>
</cp:coreProperties>
</file>